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D4FF"/>
                </a:solidFill>
                <a:latin typeface="Calibri"/>
              </a:defRPr>
            </a:pPr>
            <a:r>
              <a:t>END-TO-END MACHINE LEARNING</a:t>
            </a:r>
          </a:p>
          <a:p>
            <a:pPr>
              <a:spcAft>
                <a:spcPts val="2000"/>
              </a:spcAft>
              <a:defRPr sz="5400" b="1">
                <a:solidFill>
                  <a:srgbClr val="F5F5F7"/>
                </a:solidFill>
                <a:latin typeface="Calibri"/>
              </a:defRPr>
            </a:pPr>
            <a:r>
              <a:t>Laptop Price Prediction &amp; Deployment</a:t>
            </a:r>
          </a:p>
          <a:p>
            <a:pPr>
              <a:spcAft>
                <a:spcPts val="5000"/>
              </a:spcAft>
              <a:defRPr sz="2000">
                <a:solidFill>
                  <a:srgbClr val="A0A0B4"/>
                </a:solidFill>
                <a:latin typeface="Calibri"/>
              </a:defRPr>
            </a:pPr>
            <a:r>
              <a:t>A Complete Guide: Cleaning ➔ Pipelines ➔ Tuning ➔ Web App Deployment</a:t>
            </a:r>
          </a:p>
          <a:p>
            <a:pPr>
              <a:defRPr sz="2200" b="1">
                <a:solidFill>
                  <a:srgbClr val="00E676"/>
                </a:solidFill>
                <a:latin typeface="Calibri"/>
              </a:defRPr>
            </a:pPr>
            <a:r>
              <a:t>Presented by: Binod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01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Target Variable Skewness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100"/>
                </a:solidFill>
                <a:latin typeface="Calibri"/>
              </a:defRPr>
            </a:pPr>
            <a:r>
              <a:t>The Skewness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Laptops have a wide range of retail values (from ₹15,000 to ₹300,000+).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Most values cluster around budget levels, while a few gaming models stretch a long tail to the right.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Crucial Lesson: Standard models focus on minimizing squared error. Unsmoothed high-end outliers distort training, making average predictions highly unstable.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The Log Transformation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Applying a log transform (np.log1p) pulls the long tail inward mathematically.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It converts the asymmetrical, right-skewed pricing graph into a balanced, symmetrical bell curve (Normal distribution).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Result: Normalizing the target leads to extremely stable gradients, preventing models from over-focusing on premium price spikes.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02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Defensive Cleaning &amp; Null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Safety Guard: pd.isna()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def parse_ram(x):</a:t>
            </a:r>
            <a:br/>
            <a:r>
              <a:t>    if pd.isna(x): return np.nan</a:t>
            </a:r>
            <a:br/>
            <a:r>
              <a:t>    x_str = str(x).upper().replace('GB', '').strip()</a:t>
            </a:r>
            <a:br/>
            <a:r>
              <a:t>    return int(x_str) if x_str.isdigit() else np.nan</a:t>
            </a:r>
          </a:p>
          <a:p>
            <a:pPr>
              <a:spcAft>
                <a:spcPts val="10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Why check for nulls? Missing values (NaN) are read as floats by Pandas.</a:t>
            </a:r>
          </a:p>
          <a:p>
            <a:pPr>
              <a:spcAft>
                <a:spcPts val="10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Without pd.isna(), running string functions like .upper() or .replace() on floats instantly crashes the script.</a:t>
            </a:r>
          </a:p>
          <a:p>
            <a:pPr>
              <a:spcAft>
                <a:spcPts val="10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By returning np.nan immediately, we skip nulls safely and let the Imputer handle them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Clean String Operations (No Regex)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Why avoid Regex? Regular expressions are difficult to teach, read, and debug for beginning students.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Solution: Use basic python methods like .split(), .replace(), and .isdigit().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RAM: Stripping 'GB' directly into integers.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ROM: Parsing 'TB' (multiplying by 1024) and 'GB' separately via conditional checks.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GPU: Splitting on spaces to extract VRAM numbers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03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Hardware-Aware Core &amp; Thread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Dynamic Thread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parts = x_str.split(',')</a:t>
            </a:r>
            <a:br/>
            <a:r>
              <a:t>for part in parts:</a:t>
            </a:r>
            <a:br/>
            <a:r>
              <a:t>    if 'THREAD' in part:</a:t>
            </a:r>
            <a:br/>
            <a:r>
              <a:t>        words = part.split()</a:t>
            </a:r>
            <a:br/>
            <a:r>
              <a:t>        # Looks for preceding word and returns digit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Comma splitting: 'Hexa Core, 12 Threads' splits into ['HEXA CORE', '12 THREADS'].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Word extraction: Iterating backwards from 'THREAD' isolates '12' as a clean integer.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Safeguard: If the keyword 'THREAD' is missing (e.g. 'Quad Core'), the function safely returns NaN.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Calibri"/>
              </a:defRPr>
            </a:pPr>
            <a:r>
              <a:t>Logical Fallback: Cores == Threads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df['CPU_threads'] = df['CPU_threads'].fillna(df['CPU_cores'])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The Issue: Many mobile/budget processors (Apple M1/M2, Celerons) omit thread counts from retail specs.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The Rule: In computer hardware, if a CPU has no hyperthreading (multithreading), logical threads == physical cores.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Instead of guessing a median value, we dynamically copy the core count to threads for non-hyperthreaded CPUs.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Result: High-quality, hardware-accurate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04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Feature Routing with ColumnTransformer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Parallel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F5F5F7"/>
                </a:solidFill>
                <a:latin typeface="Calibri"/>
              </a:defRPr>
            </a:pPr>
            <a:r>
              <a:t>• What is it? ColumnTransformer is a Scikit-Learn routing box that preprocesses different columns in parallel.</a:t>
            </a:r>
          </a:p>
          <a:p>
            <a:pPr>
              <a:spcAft>
                <a:spcPts val="1400"/>
              </a:spcAft>
              <a:defRPr sz="1700">
                <a:solidFill>
                  <a:srgbClr val="F5F5F7"/>
                </a:solidFill>
                <a:latin typeface="Calibri"/>
              </a:defRPr>
            </a:pPr>
            <a:r>
              <a:t>• Numeric Column Pipeline: Applies 'SimpleImputer(median)' first, then scales via 'StandardScaler()'.</a:t>
            </a:r>
          </a:p>
          <a:p>
            <a:pPr>
              <a:spcAft>
                <a:spcPts val="1400"/>
              </a:spcAft>
              <a:defRPr sz="1700">
                <a:solidFill>
                  <a:srgbClr val="F5F5F7"/>
                </a:solidFill>
                <a:latin typeface="Calibri"/>
              </a:defRPr>
            </a:pPr>
            <a:r>
              <a:t>• Categorical Column Pipeline: Applies 'SimpleImputer(most_frequent)' first, then encodes via 'OneHotEncoder()'.</a:t>
            </a:r>
          </a:p>
          <a:p>
            <a:pPr>
              <a:spcAft>
                <a:spcPts val="1400"/>
              </a:spcAft>
              <a:defRPr sz="1700">
                <a:solidFill>
                  <a:srgbClr val="F5F5F7"/>
                </a:solidFill>
                <a:latin typeface="Calibri"/>
              </a:defRPr>
            </a:pPr>
            <a:r>
              <a:t>• Unified Assembly: When executed, ColumnTransformer runs these processes side-by-side and joins the resulting features into a single numerical matrix for the model.</a:t>
            </a:r>
          </a:p>
          <a:p>
            <a:pPr>
              <a:spcAft>
                <a:spcPts val="1400"/>
              </a:spcAft>
              <a:defRPr sz="1700">
                <a:solidFill>
                  <a:srgbClr val="F5F5F7"/>
                </a:solidFill>
                <a:latin typeface="Calibri"/>
              </a:defRPr>
            </a:pPr>
            <a:r>
              <a:t>• Why use it? It eliminates massive blocky Pandas preprocessing codes, prevents data leakage during validation, and fits easily into deployment scripts (joblib/pickle).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05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One-Hot vs. Label Encoding &amp; Column Explosion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Encoding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Label Encoding (0, 1, 2, 3...) implies a false numerical order (e.g. Apple=4 &gt; HP=0). This confuses linear models.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Nominal Categories (Brand, OS): Use One-Hot Encoding (creates separate 0/1 columns) to treat brands independently.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Ordinal Categories (Ratings, Sizes): Use Label/Ordinal Encoding only when there is a natural, mathematical ranking.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100"/>
                </a:solidFill>
                <a:latin typeface="Calibri"/>
              </a:defRPr>
            </a:pPr>
            <a:r>
              <a:t>Managing Column Explosion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The Threat: One-hot encoding high-cardinality text (hundreds of specific processors) creates hundreds of empty columns.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This leads to overfitting, high memory use, and slow speeds.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The Fix: Pre-group specific strings into a few major classes (e.g., CPU models grouped into Intel, AMD, Apple, MediaTek).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Result: Limits the added columns to a safe number (~35) that trains instantly on a standard laptop.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06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Target Wrapping (TransformedTargetRegressor)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The Target Translator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Acts as a translator sitting between the user and the regressor model.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XGBoost performs best when speaking in 'Log Language' (normalizes pricing skewness).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Users need predictions returned in 'Rupee Language' (₹50,000).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TransformedTargetRegressor automates this translation cycle seamlessly inside the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How it Runs (np.log1p / np.expm1)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During fit(): Automatically transforms the target using np.log1p (log(y+1)), ensuring y=0 doesn't crash, and trains the model on log scale.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During predict(): Automatically exponentiates the log predictions back into Rupees using np.expm1 (exp(y)-1).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Advantage: All cross-validation and hyperparameter scoring (like MAE) happen automatically on the original Rupee scale, keeping stats readable.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07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Diagnosing Underfitting vs. Overfitting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Model Evaluation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Underfitting (High Bias): The model is too simple to capture patterns. Both Train and Test scores are poor.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Overfitting (High Variance): The model memorizes training noise. High Train score but poor Test score.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Balanced (Good Fit): High Train and Test scores that are close in value (~3% gap).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100"/>
                </a:solidFill>
                <a:latin typeface="Calibri"/>
              </a:defRPr>
            </a:pPr>
            <a:r>
              <a:t>Examples from our Results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Underfitting: Lasso Regression (Train R2: 0.68 | Test R2: 0.68). The penalty is too strong, making the model too simple.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Overfitting: Decision Tree (Train R2: 0.98 | Test R2: 0.67). It memorized the training set but failed on unseen test data.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Balanced: Gradient Boosting (Train R2: 0.92 | Test R2: 0.89). Learns high-quality generalizable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08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Grid Search vs. Randomized 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GridSearchCV (Exhaustive)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Checks every single combination of parameters in a defined grid.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Guarantees finding the absolute best combination within the grid boundaries.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Drawback: Extremely slow and computationally expensive as the grid grows.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Used when parameters are few and resources are high.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Calibri"/>
              </a:defRPr>
            </a:pPr>
            <a:r>
              <a:t>RandomizedSearchCV (Probabilistic)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Randomly samples a fixed number of combinations (iterations) from a distribution.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Finds a highly optimized combination in a fraction of the time.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XGBoost pipeline tuning: randomized search quickly tuned parameters through double underscores (e.g. regressor__regressor__learning_rate).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Result: Test R2 boosted to 0.9091 (MAE ₹10,375).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09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AutoML with PyCaret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Low-Code AutoML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PyCaret is an end-to-end model management library designed to speed up ML experiments.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setup(): Sets up train/test splits, handles scaling/imputation, and supports transform_target=True out of the box.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compare_models(): Automatically trains and cross-validates ~15 algorithms side-by-side in one line of code.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tune_model(): Automates parameter search for the top algorithm.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Calibri"/>
              </a:defRPr>
            </a:pPr>
            <a:r>
              <a:t>PyCaret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from pycaret.regression import *</a:t>
            </a:r>
            <a:br/>
            <a:r>
              <a:t>setup(data=df, target='price', transform_target=True)</a:t>
            </a:r>
            <a:br/>
            <a:r>
              <a:t>best_model = compare_models()</a:t>
            </a:r>
            <a:br/>
            <a:r>
              <a:t>tuned_model = tune_model(best_model)</a:t>
            </a:r>
            <a:br/>
            <a:r>
              <a:t>plot_model(tuned_model, plot='residuals')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Simplifies prototyping dramatically.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Ideal for checking if manual pipeline results align with automated benchmarks.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Warning: Always run Runtime -&gt; Restart Session in Colab after installing pycaret to clear memory conflicts.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D4FF"/>
                </a:solidFill>
                <a:latin typeface="Calibri"/>
              </a:rPr>
              <a:t>10  |  </a:t>
            </a:r>
            <a:r>
              <a:rPr sz="3600" b="1">
                <a:solidFill>
                  <a:srgbClr val="F5F5F7"/>
                </a:solidFill>
                <a:latin typeface="Calibri"/>
              </a:rPr>
              <a:t>Web App Deployment with Streamlit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Calibri"/>
              </a:defRPr>
            </a:pPr>
            <a:r>
              <a:t>Building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Model Export: joblib.dump(best_random_model, 'best_laptop_model.pkl') saves the entire pipeline (preprocessor + XGBoost) to disk.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Interactive UI: Streamlit sidebar sliders, dropdowns, and radios capture specs in real-time.</a:t>
            </a:r>
          </a:p>
          <a:p>
            <a:pPr>
              <a:spcAft>
                <a:spcPts val="14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Dynamic Prediction: Loaded model runs predict(user_dataframe), automatically handling cleaning, scaling, encoding, and exp-transforming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Calibri"/>
              </a:defRPr>
            </a:pPr>
            <a:r>
              <a:t>Version Compatibility 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The Bug: Model saved on one sklearn version fails to load in another due to missing attributes (like _fill_dtype inside SimpleImputer).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The Patch: We wrote a recursive function in app.py that walks the pipeline steps and dynamically fixes missing attributes in SimpleImputer.</a:t>
            </a:r>
          </a:p>
          <a:p>
            <a:pPr>
              <a:spcAft>
                <a:spcPts val="1200"/>
              </a:spcAft>
              <a:defRPr sz="1600">
                <a:solidFill>
                  <a:srgbClr val="F5F5F7"/>
                </a:solidFill>
                <a:latin typeface="Calibri"/>
              </a:defRPr>
            </a:pPr>
            <a:r>
              <a:t>• Deployment: Pushed to Streamlit Community Cloud (free hosting linked directly to your GitHub repository), live at ismtlaptoppriceprediction.streamlit.app.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