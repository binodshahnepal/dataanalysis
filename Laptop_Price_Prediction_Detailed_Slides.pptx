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0D4FF"/>
                </a:solidFill>
                <a:latin typeface="Calibri"/>
              </a:defRPr>
            </a:pPr>
            <a:r>
              <a:t>LEVEL 6 AI  |  LAPTOP PRICE ANALYSIS</a:t>
            </a:r>
          </a:p>
          <a:p>
            <a:pPr>
              <a:spcAft>
                <a:spcPts val="2000"/>
              </a:spcAft>
              <a:defRPr sz="5000" b="1">
                <a:solidFill>
                  <a:srgbClr val="F5F5F7"/>
                </a:solidFill>
                <a:latin typeface="Calibri"/>
              </a:defRPr>
            </a:pPr>
            <a:r>
              <a:t>End-to-End Machine Learning</a:t>
            </a:r>
            <a:br/>
            <a:r>
              <a:t>Pipeline &amp; Deployment</a:t>
            </a:r>
          </a:p>
          <a:p>
            <a:pPr>
              <a:spcAft>
                <a:spcPts val="5000"/>
              </a:spcAft>
              <a:defRPr sz="1800">
                <a:solidFill>
                  <a:srgbClr val="A5A5B9"/>
                </a:solidFill>
                <a:latin typeface="Calibri"/>
              </a:defRPr>
            </a:pPr>
            <a:r>
              <a:t>A code-focused guide covering clean parsing, target transformation, feature routing,</a:t>
            </a:r>
            <a:br/>
            <a:r>
              <a:t>diagnostic model metrics, tuning comparison, and Streamlit web deployment.</a:t>
            </a:r>
          </a:p>
          <a:p>
            <a:pPr>
              <a:defRPr sz="2200" b="1">
                <a:solidFill>
                  <a:srgbClr val="00E676"/>
                </a:solidFill>
                <a:latin typeface="Calibri"/>
              </a:defRPr>
            </a:pPr>
            <a:r>
              <a:t>Prepared and Delivered by: Binod Shah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D4FF"/>
                </a:solidFill>
                <a:latin typeface="Calibri"/>
              </a:rPr>
              <a:t>02/14  |  </a:t>
            </a:r>
            <a:r>
              <a:rPr sz="3200" b="1">
                <a:solidFill>
                  <a:srgbClr val="F5F5F7"/>
                </a:solidFill>
                <a:latin typeface="Calibri"/>
              </a:rPr>
              <a:t>Data Landscape &amp; Learning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1E2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D4FF"/>
                </a:solidFill>
                <a:latin typeface="Calibri"/>
              </a:defRPr>
            </a:pPr>
            <a:r>
              <a:t>Data Schema Overview (data.csv)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Dataset contains 893 laptop records with 18 specifications.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Target Variable: 'price' (numerical value in Indian Rupees).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Key input columns are unstructured or high cardinality: 'Ram' (e.g. '8GB'), 'ROM' (e.g. '512GB SSD'), 'CPU' (e.g. 'Hexa Core, 12 Threads'), and 'processor' (e.g. 'Intel Core i5').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Objective: Clean and engineer numerical columns from text, train generalized regression models, and deploy as a web application.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1E1E2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E676"/>
                </a:solidFill>
                <a:latin typeface="Calibri"/>
              </a:defRPr>
            </a:pPr>
            <a:r>
              <a:t>Key Techniques Covered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Defensive String Parsing: Extract clean numerical features from text fields without writing complex regular expressions.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Target Transformation: Mitigate price skewness via log transforms.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ColumnTransformer Pipeline: Route columns to separate preprocessing lines dynamically and avoid data leakage.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Tuning Diagnostics: Contrast systematic (GridSearch) vs. probabilistic (RandomizedSearch) tuning models on real plots.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D4FF"/>
                </a:solidFill>
                <a:latin typeface="Calibri"/>
              </a:rPr>
              <a:t>03/14  |  </a:t>
            </a:r>
            <a:r>
              <a:rPr sz="3200" b="1">
                <a:solidFill>
                  <a:srgbClr val="F5F5F7"/>
                </a:solidFill>
                <a:latin typeface="Calibri"/>
              </a:rPr>
              <a:t>Clean Parsing: RAM &amp; ROM Extractions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1E2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D4FF"/>
                </a:solidFill>
                <a:latin typeface="Calibri"/>
              </a:defRPr>
            </a:pPr>
            <a:r>
              <a:t>1. RAM Parsing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200">
                <a:solidFill>
                  <a:srgbClr val="00E676"/>
                </a:solidFill>
                <a:latin typeface="Consolas"/>
              </a:defRPr>
            </a:pPr>
            <a:r>
              <a:t>def parse_ram(x):</a:t>
            </a:r>
            <a:br/>
            <a:r>
              <a:t>    if pd.isna(x): return np.nan</a:t>
            </a:r>
            <a:br/>
            <a:r>
              <a:t>    x_str = str(x).upper().replace('GB', '').strip()</a:t>
            </a:r>
            <a:br/>
            <a:r>
              <a:t>    return int(x_str) if x_str.isdigit() else np.nan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Safety Check: pd.isna(x) catches empty values instantly. Without this, float NaN inputs will crash standard string methods (.replace, .strip).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String Replace: Removes the suffix 'GB' and strips whitespace.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Type Casting: Checks if the remaining characters are a digit (.isdigit()) and returns the clean integer, else NaN.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1E1E2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D4FF"/>
                </a:solidFill>
                <a:latin typeface="Calibri"/>
              </a:defRPr>
            </a:pPr>
            <a:r>
              <a:t>2. ROM (Storage) Parsing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100">
                <a:solidFill>
                  <a:srgbClr val="00E676"/>
                </a:solidFill>
                <a:latin typeface="Consolas"/>
              </a:defRPr>
            </a:pPr>
            <a:r>
              <a:t>def parse_rom(x):</a:t>
            </a:r>
            <a:br/>
            <a:r>
              <a:t>    if pd.isna(x): return np.nan</a:t>
            </a:r>
            <a:br/>
            <a:r>
              <a:t>    x_str = str(x).upper().strip()</a:t>
            </a:r>
            <a:br/>
            <a:r>
              <a:t>    if 'TB' in x_str:</a:t>
            </a:r>
            <a:br/>
            <a:r>
              <a:t>        val = x_str.replace('TB', '').strip()</a:t>
            </a:r>
            <a:br/>
            <a:r>
              <a:t>        return int(val) * 1024 if val.isdigit() else np.nan</a:t>
            </a:r>
            <a:br/>
            <a:r>
              <a:t>    val = x_str.replace('GB', '').strip()</a:t>
            </a:r>
            <a:br/>
            <a:r>
              <a:t>    return int(val) if val.isdigit() else np.nan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Unified Units: Storage in the dataset is written as both GB (e.g. '512GB') and TB (e.g. '1TB').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Scaling: If 'TB' is found in the text, we strip 'TB' and multiply the integer value by 1024 to convert it to GB.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Otherwise, we strip 'GB' and return the raw integer.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D4FF"/>
                </a:solidFill>
                <a:latin typeface="Calibri"/>
              </a:rPr>
              <a:t>04/14  |  </a:t>
            </a:r>
            <a:r>
              <a:rPr sz="3200" b="1">
                <a:solidFill>
                  <a:srgbClr val="F5F5F7"/>
                </a:solidFill>
                <a:latin typeface="Calibri"/>
              </a:rPr>
              <a:t>Clean Parsing: CPU Cores &amp; Threads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1E2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D4FF"/>
                </a:solidFill>
                <a:latin typeface="Calibri"/>
              </a:defRPr>
            </a:pPr>
            <a:r>
              <a:t>1. CPU Cores Parsing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100">
                <a:solidFill>
                  <a:srgbClr val="00E676"/>
                </a:solidFill>
                <a:latin typeface="Consolas"/>
              </a:defRPr>
            </a:pPr>
            <a:r>
              <a:t>def parse_cores(x):</a:t>
            </a:r>
            <a:br/>
            <a:r>
              <a:t>    ...</a:t>
            </a:r>
            <a:br/>
            <a:r>
              <a:t>    words = x_str.split()</a:t>
            </a:r>
            <a:br/>
            <a:r>
              <a:t>    for idx, word in enumerate(words):</a:t>
            </a:r>
            <a:br/>
            <a:r>
              <a:t>        if 'CORE' in word:</a:t>
            </a:r>
            <a:br/>
            <a:r>
              <a:t>            if idx &gt; 0 and words[idx-1].isdigit():</a:t>
            </a:r>
            <a:br/>
            <a:r>
              <a:t>                return int(words[idx-1])</a:t>
            </a:r>
            <a:br/>
            <a:r>
              <a:t>    for name, val in core_map.items():</a:t>
            </a:r>
            <a:br/>
            <a:r>
              <a:t>        if name in x_str: return val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Double Lookup Strategy: Handles both numeric and word cores.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Digit Check: If the CPU string starts with a digit (e.g. '10 Cores'), it splits by space, locates 'Core', and grabs the previous word.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Word Map: If the core count is written as a word (e.g. 'Hexa Core'), it falls back to checking a mapped dictionary.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1E1E2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D4FF"/>
                </a:solidFill>
                <a:latin typeface="Calibri"/>
              </a:defRPr>
            </a:pPr>
            <a:r>
              <a:t>2. CPU Threads Parsing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050">
                <a:solidFill>
                  <a:srgbClr val="00E676"/>
                </a:solidFill>
                <a:latin typeface="Consolas"/>
              </a:defRPr>
            </a:pPr>
            <a:r>
              <a:t>def parse_threads(x):</a:t>
            </a:r>
            <a:br/>
            <a:r>
              <a:t>    ...</a:t>
            </a:r>
            <a:br/>
            <a:r>
              <a:t>    parts = x_str.split(',')</a:t>
            </a:r>
            <a:br/>
            <a:r>
              <a:t>    for part in parts:</a:t>
            </a:r>
            <a:br/>
            <a:r>
              <a:t>        if 'THREAD' in part:</a:t>
            </a:r>
            <a:br/>
            <a:r>
              <a:t>            words = part.split()</a:t>
            </a:r>
            <a:br/>
            <a:r>
              <a:t>            for idx, word in enumerate(words):</a:t>
            </a:r>
            <a:br/>
            <a:r>
              <a:t>                if 'THREAD' in word and idx &gt; 0:</a:t>
            </a:r>
            <a:br/>
            <a:r>
              <a:t>                    if words[idx-1].isdigit():</a:t>
            </a:r>
            <a:br/>
            <a:r>
              <a:t>                        return int(words[idx-1])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Comma Splitting: Splits strings (like 'Hexa Core, 12 Threads') by comma into parts.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Targeted Search: Loops through the parts to find the one containing the word 'THREAD'.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Extraction: Splits that part by space, locates 'THREAD', checks the preceding word, and extracts the digit.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D4FF"/>
                </a:solidFill>
                <a:latin typeface="Calibri"/>
              </a:rPr>
              <a:t>05/14  |  </a:t>
            </a:r>
            <a:r>
              <a:rPr sz="3200" b="1">
                <a:solidFill>
                  <a:srgbClr val="F5F5F7"/>
                </a:solidFill>
                <a:latin typeface="Calibri"/>
              </a:rPr>
              <a:t>CPU Threads Fallback Logic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1E2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D4FF"/>
                </a:solidFill>
                <a:latin typeface="Calibri"/>
              </a:defRPr>
            </a:pPr>
            <a:r>
              <a:t>The fillna Fallback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1300">
                <a:solidFill>
                  <a:srgbClr val="00E676"/>
                </a:solidFill>
                <a:latin typeface="Consolas"/>
              </a:defRPr>
            </a:pPr>
            <a:r>
              <a:t>df['CPU_threads'] = df['CPU_threads'].fillna(df['CPU_cores'])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The Data Issue: Many entry-level chips (Intel Celeron, Pentium) and customized processors (Apple M1/M2) do not list thread counts in retail text specifications.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If a thread count is not mentioned in the string, our parser naturally returns NaN.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Instead of keeping these values as nulls or guessing a median, we run a dynamic hardware-based fallback.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1E1E2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E676"/>
                </a:solidFill>
                <a:latin typeface="Calibri"/>
              </a:defRPr>
            </a:pPr>
            <a:r>
              <a:t>Hardware Reason &amp; Justification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Why is this accurate? In computer hardware, if a CPU does not support hyperthreading (multithreading), the number of logical threads is exactly equal to physical cores.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An Apple M1 chip has 8 physical cores and exactly 8 threads.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A budget Intel Celeron has 2 cores and exactly 2 threads.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Setting threads equal to cores matches real-world hardware facts, resulting in a much higher quality feature than simple median imputation.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D4FF"/>
                </a:solidFill>
                <a:latin typeface="Calibri"/>
              </a:rPr>
              <a:t>06/14  |  </a:t>
            </a:r>
            <a:r>
              <a:rPr sz="3200" b="1">
                <a:solidFill>
                  <a:srgbClr val="F5F5F7"/>
                </a:solidFill>
                <a:latin typeface="Calibri"/>
              </a:rPr>
              <a:t>Feature Grouping (CPU &amp; GPU Brands)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1E2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D4FF"/>
                </a:solidFill>
                <a:latin typeface="Calibri"/>
              </a:defRPr>
            </a:pPr>
            <a:r>
              <a:t>Grouping Processor Brands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100">
                <a:solidFill>
                  <a:srgbClr val="00E676"/>
                </a:solidFill>
                <a:latin typeface="Consolas"/>
              </a:defRPr>
            </a:pPr>
            <a:r>
              <a:t>def get_cpu_brand(x):</a:t>
            </a:r>
            <a:br/>
            <a:r>
              <a:t>    if pd.isna(x): return 'Other'</a:t>
            </a:r>
            <a:br/>
            <a:r>
              <a:t>    x_str = str(x).upper()</a:t>
            </a:r>
            <a:br/>
            <a:r>
              <a:t>    if 'INTEL' in x_str: return 'Intel'</a:t>
            </a:r>
            <a:br/>
            <a:r>
              <a:t>    if 'AMD' in x_str: return 'AMD'</a:t>
            </a:r>
            <a:br/>
            <a:r>
              <a:t>    if 'APPLE' in x_str: return 'Apple'</a:t>
            </a:r>
            <a:br/>
            <a:r>
              <a:t>    if 'MEDIATEK' in x_str: return 'MediaTek'</a:t>
            </a:r>
            <a:br/>
            <a:r>
              <a:t>    return 'Other'</a:t>
            </a:r>
          </a:p>
          <a:p>
            <a:pPr>
              <a:spcAft>
                <a:spcPts val="600"/>
              </a:spcAft>
              <a:defRPr sz="1350">
                <a:solidFill>
                  <a:srgbClr val="F5F5F7"/>
                </a:solidFill>
                <a:latin typeface="Calibri"/>
              </a:defRPr>
            </a:pPr>
            <a:r>
              <a:t>• Curse of Dimensionality: The raw 'processor' column contains hundreds of distinct model names (Core i5 12450H, Ryzen 5 5600U, etc.).</a:t>
            </a:r>
          </a:p>
          <a:p>
            <a:pPr>
              <a:spcAft>
                <a:spcPts val="600"/>
              </a:spcAft>
              <a:defRPr sz="1350">
                <a:solidFill>
                  <a:srgbClr val="F5F5F7"/>
                </a:solidFill>
                <a:latin typeface="Calibri"/>
              </a:defRPr>
            </a:pPr>
            <a:r>
              <a:t>• If encoded directly, it would create hundreds of sparse columns, causing model overfitting.</a:t>
            </a:r>
          </a:p>
          <a:p>
            <a:pPr>
              <a:spcAft>
                <a:spcPts val="600"/>
              </a:spcAft>
              <a:defRPr sz="1350">
                <a:solidFill>
                  <a:srgbClr val="F5F5F7"/>
                </a:solidFill>
                <a:latin typeface="Calibri"/>
              </a:defRPr>
            </a:pPr>
            <a:r>
              <a:t>• Grouping them into 5 major brands simplifies the categorical data while keeping prediction power high.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1E1E2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D4FF"/>
                </a:solidFill>
                <a:latin typeface="Calibri"/>
              </a:defRPr>
            </a:pPr>
            <a:r>
              <a:t>Grouping Graphics (GPU) Brands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100">
                <a:solidFill>
                  <a:srgbClr val="00E676"/>
                </a:solidFill>
                <a:latin typeface="Consolas"/>
              </a:defRPr>
            </a:pPr>
            <a:r>
              <a:t>def get_gpu_brand(x):</a:t>
            </a:r>
            <a:br/>
            <a:r>
              <a:t>    ...</a:t>
            </a:r>
            <a:br/>
            <a:r>
              <a:t>    if 'NVIDIA' in x_str: return 'NVIDIA'</a:t>
            </a:r>
            <a:br/>
            <a:r>
              <a:t>    if 'AMD' in x_str or 'RADEON' in x_str: return 'AMD'</a:t>
            </a:r>
            <a:br/>
            <a:r>
              <a:t>    if 'INTEL' in x_str or 'IRIS' in x_str: return 'Intel'</a:t>
            </a:r>
            <a:br/>
            <a:r>
              <a:t>    if 'APPLE' in x_str: return 'Apple'</a:t>
            </a:r>
            <a:br/>
            <a:r>
              <a:t>    return 'Other'</a:t>
            </a:r>
          </a:p>
          <a:p>
            <a:pPr>
              <a:spcAft>
                <a:spcPts val="600"/>
              </a:spcAft>
              <a:defRPr sz="1350">
                <a:solidFill>
                  <a:srgbClr val="F5F5F7"/>
                </a:solidFill>
                <a:latin typeface="Calibri"/>
              </a:defRPr>
            </a:pPr>
            <a:r>
              <a:t>• Graphics Cards: We similarly group raw GPU text strings into clean parent brands (NVIDIA, AMD, Intel, Apple).</a:t>
            </a:r>
          </a:p>
          <a:p>
            <a:pPr>
              <a:spcAft>
                <a:spcPts val="600"/>
              </a:spcAft>
              <a:defRPr sz="1350">
                <a:solidFill>
                  <a:srgbClr val="F5F5F7"/>
                </a:solidFill>
                <a:latin typeface="Calibri"/>
              </a:defRPr>
            </a:pPr>
            <a:r>
              <a:t>• Integrated vs. Dedicated: We extract the VRAM size (e.g. '4GB' -&gt; 4). Integrated graphics columns default to 0 GB VRAM.</a:t>
            </a:r>
          </a:p>
          <a:p>
            <a:pPr>
              <a:spcAft>
                <a:spcPts val="600"/>
              </a:spcAft>
              <a:defRPr sz="1350">
                <a:solidFill>
                  <a:srgbClr val="F5F5F7"/>
                </a:solidFill>
                <a:latin typeface="Calibri"/>
              </a:defRPr>
            </a:pPr>
            <a:r>
              <a:t>• This gives the model a clear numerical feature showing dedicated gaming power.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D4FF"/>
                </a:solidFill>
                <a:latin typeface="Calibri"/>
              </a:rPr>
              <a:t>07/14  |  </a:t>
            </a:r>
            <a:r>
              <a:rPr sz="3200" b="1">
                <a:solidFill>
                  <a:srgbClr val="F5F5F7"/>
                </a:solidFill>
                <a:latin typeface="Calibri"/>
              </a:rPr>
              <a:t>Target Skewness &amp; Log-Transformation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1E2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D4FF"/>
                </a:solidFill>
                <a:latin typeface="Calibri"/>
              </a:defRPr>
            </a:pPr>
            <a:r>
              <a:t>Why Log-Transform the Target?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Right-Skewed Target: Laptop prices are heavily concentrated at budget levels, with a few premium items extending a long tail.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Training directly on skewed values forces the model's loss function to focus heavily on reducing errors for rare expensive items, degrading prediction accuracy on standard items.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Using np.log1p (log(y+1)) compresses outliers, converting an asymmetrical curve into a Normal (bell-shaped) curve.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log1p vs log: log1p adds 1 to prevent taking the log of zero (which is undefined and would crash standard math functions).</a:t>
            </a:r>
          </a:p>
        </p:txBody>
      </p:sp>
      <p:pic>
        <p:nvPicPr>
          <p:cNvPr id="6" name="Picture 5" descr="target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1206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D4FF"/>
                </a:solidFill>
                <a:latin typeface="Calibri"/>
              </a:rPr>
              <a:t>08/14  |  </a:t>
            </a:r>
            <a:r>
              <a:rPr sz="3200" b="1">
                <a:solidFill>
                  <a:srgbClr val="F5F5F7"/>
                </a:solidFill>
                <a:latin typeface="Calibri"/>
              </a:rPr>
              <a:t>Preprocessing with ColumnTransformer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1E2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D4FF"/>
                </a:solidFill>
                <a:latin typeface="Calibri"/>
              </a:defRPr>
            </a:pPr>
            <a:r>
              <a:t>Pipeline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050">
                <a:solidFill>
                  <a:srgbClr val="00E676"/>
                </a:solidFill>
                <a:latin typeface="Consolas"/>
              </a:defRPr>
            </a:pPr>
            <a:r>
              <a:t>num_pipeline = Pipeline([</a:t>
            </a:r>
            <a:br/>
            <a:r>
              <a:t>    ('imputer', SimpleImputer(strategy='median')),</a:t>
            </a:r>
            <a:br/>
            <a:r>
              <a:t>    ('scaler', StandardScaler())</a:t>
            </a:r>
            <a:br/>
            <a:r>
              <a:t>])</a:t>
            </a:r>
            <a:br/>
            <a:br/>
            <a:r>
              <a:t>cat_pipeline = Pipeline([</a:t>
            </a:r>
            <a:br/>
            <a:r>
              <a:t>    ('imputer', SimpleImputer(strategy='most_frequent')),</a:t>
            </a:r>
            <a:br/>
            <a:r>
              <a:t>    ('onehot', OneHotEncoder(handle_unknown='ignore'))</a:t>
            </a:r>
            <a:br/>
            <a:r>
              <a:t>])</a:t>
            </a:r>
            <a:br/>
            <a:br/>
            <a:r>
              <a:t>preprocessor = ColumnTransformer([</a:t>
            </a:r>
            <a:br/>
            <a:r>
              <a:t>    ('num', num_pipeline, num_cols),</a:t>
            </a:r>
            <a:br/>
            <a:r>
              <a:t>    ('cat', cat_pipeline, cat_cols)</a:t>
            </a:r>
            <a:br/>
            <a:r>
              <a:t>])</a:t>
            </a:r>
          </a:p>
          <a:p>
            <a:pPr>
              <a:defRPr sz="1400">
                <a:solidFill>
                  <a:srgbClr val="F5F5F7"/>
                </a:solidFill>
                <a:latin typeface="Calibri"/>
              </a:defRPr>
            </a:pPr>
            <a:r>
              <a:t>• Bundles cleaning, scaling, and encoding into a single preprocessor block.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1E1E2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E676"/>
                </a:solidFill>
                <a:latin typeface="Calibri"/>
              </a:defRPr>
            </a:pPr>
            <a:r>
              <a:t>Why use ColumnTransformer?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Prevents Data Leakage: Standard scaling and categorical statistics are fitted ONLY during training folds during cross-validation, never leaking test fold parameters.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Automatic Prefixing: Scikit-learn automatically prefixes processed feature columns (e.g. 'num__Ram_GB' or 'cat__brand_HP') to avoid name collisions.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Easier Deployment: The entire preprocessing graph fits inside our final model pickle file, allowing Streamlit to parse raw web forms dynamically.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D4FF"/>
                </a:solidFill>
                <a:latin typeface="Calibri"/>
              </a:rPr>
              <a:t>09/14  |  </a:t>
            </a:r>
            <a:r>
              <a:rPr sz="3200" b="1">
                <a:solidFill>
                  <a:srgbClr val="F5F5F7"/>
                </a:solidFill>
                <a:latin typeface="Calibri"/>
              </a:rPr>
              <a:t>One-Hot vs. Label Encoding Strategies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1E2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D4FF"/>
                </a:solidFill>
                <a:latin typeface="Calibri"/>
              </a:defRPr>
            </a:pPr>
            <a:r>
              <a:t>One-Hot Encoding (Nominal Features)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Nominal columns (Brand, OS, RAM Type) have no natural order or ranking.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Label Encoding nominal values (HP=0, Lenovo=1, Apple=2) implies a false hierarchy that confuses regressors (Apple is not twice Lenovo).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One-Hot Encoding splits categories into separate binary columns (0 or 1), treating each class independently.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We avoid column explosion by grouping high-cardinality values beforehand, keeping columns to around 35.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1E1E2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E676"/>
                </a:solidFill>
                <a:latin typeface="Calibri"/>
              </a:defRPr>
            </a:pPr>
            <a:r>
              <a:t>Label/Ordinal Encoding (Ordinal Features)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Ordinal columns contain categories with a clear, natural order (e.g. Warranty: 1 &lt; 2 &lt; 3 years, or spec rating).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Since these have mathematical scales, we keep them as numerical levels.</a:t>
            </a:r>
          </a:p>
          <a:p>
            <a:pPr>
              <a:spcAft>
                <a:spcPts val="12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If you have high-cardinality nominal columns that cannot be grouped (like Zip Codes or Specific Models), use Target Encoding (replacing strings with mean price) or Binary Encoding to limit columns.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D4FF"/>
                </a:solidFill>
                <a:latin typeface="Calibri"/>
              </a:rPr>
              <a:t>10/14  |  </a:t>
            </a:r>
            <a:r>
              <a:rPr sz="3200" b="1">
                <a:solidFill>
                  <a:srgbClr val="F5F5F7"/>
                </a:solidFill>
                <a:latin typeface="Calibri"/>
              </a:rPr>
              <a:t>Diagnosing Underfitting &amp; Overfitting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1E2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D4FF"/>
                </a:solidFill>
                <a:latin typeface="Calibri"/>
              </a:defRPr>
            </a:pPr>
            <a:r>
              <a:t>Evidence from our Results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Underfitting (High Bias): Lasso Regression (Train R2: 0.6811 | Test R2: 0.6840). The R2 values are low, indicating the model is too simple to capture pricing variance.</a:t>
            </a:r>
          </a:p>
          <a:p>
            <a:pPr>
              <a:spcAft>
                <a:spcPts val="10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Overfitting (High Variance): Decision Tree (Train R2: 0.9842 | Test R2: 0.6719). The tree memorized training noise but failed on unseen test data.</a:t>
            </a:r>
          </a:p>
          <a:p>
            <a:pPr>
              <a:spcAft>
                <a:spcPts val="10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Balanced Fit: Gradient Boosting (Train R2: 0.9264 | Test R2: 0.8942) and Ridge Regression. Training and testing scores are close (generalization gap &lt; 3%).</a:t>
            </a:r>
          </a:p>
        </p:txBody>
      </p:sp>
      <p:pic>
        <p:nvPicPr>
          <p:cNvPr id="6" name="Picture 5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1206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D4FF"/>
                </a:solidFill>
                <a:latin typeface="Calibri"/>
              </a:rPr>
              <a:t>11/14  |  </a:t>
            </a:r>
            <a:r>
              <a:rPr sz="3200" b="1">
                <a:solidFill>
                  <a:srgbClr val="F5F5F7"/>
                </a:solidFill>
                <a:latin typeface="Calibri"/>
              </a:rPr>
              <a:t>GridSearchCV vs. RandomizedSearchCV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1E2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D4FF"/>
                </a:solidFill>
                <a:latin typeface="Calibri"/>
              </a:defRPr>
            </a:pPr>
            <a:r>
              <a:t>1. GridSearchCV (Exhaustive Search)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200">
                <a:solidFill>
                  <a:srgbClr val="00E676"/>
                </a:solidFill>
                <a:latin typeface="Consolas"/>
              </a:defRPr>
            </a:pPr>
            <a:r>
              <a:t>grid_params = {</a:t>
            </a:r>
            <a:br/>
            <a:r>
              <a:t>    'regressor__regressor__n_estimators': [100, 150],</a:t>
            </a:r>
            <a:br/>
            <a:r>
              <a:t>    'regressor__regressor__max_depth': [4, 6],</a:t>
            </a:r>
            <a:br/>
            <a:r>
              <a:t>    'regressor__regressor__learning_rate': [0.05, 0.1]</a:t>
            </a:r>
            <a:br/>
            <a:r>
              <a:t>}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Checks all combinations. With 3 parameters of 2 values each, it trains 2x2x2 = 8 models x 3 CV folds = 24 total runs.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Guarantees finding the best configuration in the grid, but scales poorly to large search spaces.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1E1E2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E676"/>
                </a:solidFill>
                <a:latin typeface="Calibri"/>
              </a:defRPr>
            </a:pPr>
            <a:r>
              <a:t>2. RandomizedSearchCV (Random Sampling)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100">
                <a:solidFill>
                  <a:srgbClr val="00E676"/>
                </a:solidFill>
                <a:latin typeface="Consolas"/>
              </a:defRPr>
            </a:pPr>
            <a:r>
              <a:t>random_params = {</a:t>
            </a:r>
            <a:br/>
            <a:r>
              <a:t>    'regressor__regressor__n_estimators': [50, 100, 150, 200],</a:t>
            </a:r>
            <a:br/>
            <a:r>
              <a:t>    'regressor__regressor__max_depth': [3, 4, 6, 8],</a:t>
            </a:r>
            <a:br/>
            <a:r>
              <a:t>    'regressor__regressor__learning_rate': [0.01, 0.05, 0.1, 0.2]</a:t>
            </a:r>
            <a:br/>
            <a:r>
              <a:t>}</a:t>
            </a:r>
            <a:br/>
            <a:r>
              <a:t>RandomizedSearchCV(..., n_iter=15, cv=3)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Randomly samples a fixed number of parameter combinations (e.g. n_iter=15).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Saves massive computational time while exploring wider parameter boundaries.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Note: Nested parameters inside pipelines must be accessed with double underscores (e.g. 'regressor__regressor__max_depth').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D4FF"/>
                </a:solidFill>
                <a:latin typeface="Calibri"/>
              </a:rPr>
              <a:t>12/14  |  </a:t>
            </a:r>
            <a:r>
              <a:rPr sz="3200" b="1">
                <a:solidFill>
                  <a:srgbClr val="F5F5F7"/>
                </a:solidFill>
                <a:latin typeface="Calibri"/>
              </a:rPr>
              <a:t>Feature Importance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1E2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D4FF"/>
                </a:solidFill>
                <a:latin typeface="Calibri"/>
              </a:defRPr>
            </a:pPr>
            <a:r>
              <a:t>Interpreting Feature Importances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Feature Importance shows which columns have the greatest mathematical influence on the model's price predictions.</a:t>
            </a:r>
          </a:p>
          <a:p>
            <a:pPr>
              <a:spcAft>
                <a:spcPts val="10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In our XGBoost pipeline, the importances are extracted from the fitted tree estimator.</a:t>
            </a:r>
          </a:p>
          <a:p>
            <a:pPr>
              <a:spcAft>
                <a:spcPts val="10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Key Predictors: RAM capacity ('Ram_GB') and hardware performance metrics ('spec_rating', CPU core count) have the largest positive influence on price.</a:t>
            </a:r>
          </a:p>
          <a:p>
            <a:pPr>
              <a:spcAft>
                <a:spcPts val="10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Categorical variables like Apple brands ('cat__brand_Apple') show strong price coefficients, explaining why premium products command higher retail value.</a:t>
            </a:r>
          </a:p>
        </p:txBody>
      </p:sp>
      <p:pic>
        <p:nvPicPr>
          <p:cNvPr id="6" name="Picture 5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1206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D4FF"/>
                </a:solidFill>
                <a:latin typeface="Calibri"/>
              </a:rPr>
              <a:t>13/14  |  </a:t>
            </a:r>
            <a:r>
              <a:rPr sz="3200" b="1">
                <a:solidFill>
                  <a:srgbClr val="F5F5F7"/>
                </a:solidFill>
                <a:latin typeface="Calibri"/>
              </a:rPr>
              <a:t>Streamlit Deployment &amp; Version Patching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1E2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D4FF"/>
                </a:solidFill>
                <a:latin typeface="Calibri"/>
              </a:defRPr>
            </a:pPr>
            <a:r>
              <a:t>Streamlit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Pickled Pipeline: We dump our complete pipeline (preprocessing + target regressor) into 'best_laptop_model.pkl'.</a:t>
            </a:r>
          </a:p>
          <a:p>
            <a:pPr>
              <a:spcAft>
                <a:spcPts val="14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Streamlit Dashboard: Users enter specs via sliders and dropdowns.</a:t>
            </a:r>
          </a:p>
          <a:p>
            <a:pPr>
              <a:spcAft>
                <a:spcPts val="14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Prediction: App packages inputs into a 1-row Pandas DataFrame and calls pipeline.predict(df). Preprocessing and inverse target log transformations happen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1E1E2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E676"/>
                </a:solidFill>
                <a:latin typeface="Calibri"/>
              </a:defRPr>
            </a:pPr>
            <a:r>
              <a:t>Scikit-Learn Version Compatibility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100">
                <a:solidFill>
                  <a:srgbClr val="00E676"/>
                </a:solidFill>
                <a:latin typeface="Consolas"/>
              </a:defRPr>
            </a:pPr>
            <a:r>
              <a:t>def patch_imputer(obj):</a:t>
            </a:r>
            <a:br/>
            <a:r>
              <a:t>    if isinstance(obj, SimpleImputer):</a:t>
            </a:r>
            <a:br/>
            <a:r>
              <a:t>        if not hasattr(obj, '_fill_dtype'):</a:t>
            </a:r>
            <a:br/>
            <a:r>
              <a:t>            obj._fill_dtype = obj.statistics_.dtype</a:t>
            </a:r>
            <a:br/>
            <a:r>
              <a:t>    elif isinstance(obj, Pipeline):</a:t>
            </a:r>
            <a:br/>
            <a:r>
              <a:t>        for name, step in obj.steps: patch_imputer(step)</a:t>
            </a:r>
          </a:p>
          <a:p>
            <a:pPr>
              <a:spcAft>
                <a:spcPts val="10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The Bug: Model pickled with one sklearn version (e.g. local 1.7.2) fails to load on Streamlit Cloud due to missing attributes (like _fill_dtype inside SimpleImputer).</a:t>
            </a:r>
          </a:p>
          <a:p>
            <a:pPr>
              <a:spcAft>
                <a:spcPts val="10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The Patch: We write a recursive function to walk the pipeline and dynamically inject missing attributes on the fly.</a:t>
            </a:r>
          </a:p>
          <a:p>
            <a:pPr>
              <a:spcAft>
                <a:spcPts val="1000"/>
              </a:spcAft>
              <a:defRPr sz="1400">
                <a:solidFill>
                  <a:srgbClr val="F5F5F7"/>
                </a:solidFill>
                <a:latin typeface="Calibri"/>
              </a:defRPr>
            </a:pPr>
            <a:r>
              <a:t>• Result: Free, bulletproof deployment on Streamlit Cloud.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0D4FF"/>
                </a:solidFill>
                <a:latin typeface="Calibri"/>
              </a:rPr>
              <a:t>14/14  |  </a:t>
            </a:r>
            <a:r>
              <a:rPr sz="3200" b="1">
                <a:solidFill>
                  <a:srgbClr val="F5F5F7"/>
                </a:solidFill>
                <a:latin typeface="Calibri"/>
              </a:rPr>
              <a:t>Summary &amp; 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E1E2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D4FF"/>
                </a:solidFill>
                <a:latin typeface="Calibri"/>
              </a:defRPr>
            </a:pPr>
            <a:r>
              <a:t>Pipeline Clean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Unstructured Text Cleaned: Extracted numeric values for RAM, ROM, CPU Cores/Threads, and GPU VRAM without regular expressions.</a:t>
            </a:r>
          </a:p>
          <a:p>
            <a:pPr>
              <a:spcAft>
                <a:spcPts val="14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Target Transformations: Used TransformedTargetRegressor with np.log1p to remove skewness, leading to highly stable modeling.</a:t>
            </a:r>
          </a:p>
          <a:p>
            <a:pPr>
              <a:spcAft>
                <a:spcPts val="14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Leakage Prevention: Encapsulated ColumnTransformer scaling/encoding inside pipelines to keep evaluations strict and robust.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1E1E2A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0E676"/>
                </a:solidFill>
                <a:latin typeface="Calibri"/>
              </a:defRPr>
            </a:pPr>
            <a:r>
              <a:t>Deployment &amp; Production 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Tuned XGBoost Regressor: Contrasted grid search and randomized search, finding that RandomizedSearch is faster and generalized better.</a:t>
            </a:r>
          </a:p>
          <a:p>
            <a:pPr>
              <a:spcAft>
                <a:spcPts val="14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Productionized Pipeline: Saved the model pipeline to disk using joblib, resolving scikit-learn version differences dynamically.</a:t>
            </a:r>
          </a:p>
          <a:p>
            <a:pPr>
              <a:spcAft>
                <a:spcPts val="1400"/>
              </a:spcAft>
              <a:defRPr sz="1500">
                <a:solidFill>
                  <a:srgbClr val="F5F5F7"/>
                </a:solidFill>
                <a:latin typeface="Calibri"/>
              </a:defRPr>
            </a:pPr>
            <a:r>
              <a:t>• Web App Active: Deployed successfully to Streamlit Community Cloud, ready for students to interact with online.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