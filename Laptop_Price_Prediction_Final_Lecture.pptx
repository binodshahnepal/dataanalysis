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288D1"/>
                </a:solidFill>
                <a:latin typeface="Arial"/>
              </a:defRPr>
            </a:pPr>
            <a:r>
              <a:t>LEVEL 6 ARTIFICIAL INTELLIGENCE  |  ACADEMIC LECTURE DECK</a:t>
            </a:r>
          </a:p>
          <a:p>
            <a:pPr>
              <a:spcAft>
                <a:spcPts val="2000"/>
              </a:spcAft>
              <a:defRPr sz="4600" b="1">
                <a:solidFill>
                  <a:srgbClr val="0A2540"/>
                </a:solidFill>
                <a:latin typeface="Arial"/>
              </a:defRPr>
            </a:pPr>
            <a:r>
              <a:t>Laptop Price Prediction:</a:t>
            </a:r>
            <a:br/>
            <a:r>
              <a:t>From Cleaning to Web Deployment</a:t>
            </a:r>
          </a:p>
          <a:p>
            <a:pPr>
              <a:spcAft>
                <a:spcPts val="4500"/>
              </a:spcAft>
              <a:defRPr sz="1700">
                <a:solidFill>
                  <a:srgbClr val="646E78"/>
                </a:solidFill>
                <a:latin typeface="Arial"/>
              </a:defRPr>
            </a:pPr>
            <a:r>
              <a:t>A comprehensive technical slide deck covering defensive string cleaning, target log-transformation,</a:t>
            </a:r>
            <a:br/>
            <a:r>
              <a:t>modular preprocessing pipelines, overfitting diagnostics, hyperparameter search, and web deployment.</a:t>
            </a:r>
          </a:p>
          <a:p>
            <a:pPr>
              <a:defRPr sz="2200" b="1">
                <a:solidFill>
                  <a:srgbClr val="2E7D32"/>
                </a:solidFill>
                <a:latin typeface="Arial"/>
              </a:defRPr>
            </a:pPr>
            <a:r>
              <a:t>Presented by: Binod Shah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02/15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Lecture Outline &amp; Techniques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Core Techniques 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Defensive Data Cleaning: Parsing raw string values using standard Python methods without regular expressions, preventing system crashes on missing values.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Target Analysis: Normalizing skewed retail pricing targets utilizing target log-transformations.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Feature Engineering: Handling hardware-specific details (hyperthreading fallbacks, brand binning) to avoid feature sparsity.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Pipeline Encapsulation: Creating leak-proof preprocessing pipelines with ColumnTransformer routing.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Diagnostics &amp; Deployment: Contrasting model fit characteristics and deploying the model to Streamlit with a version-compatibility patch.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E7D32"/>
                </a:solidFill>
                <a:latin typeface="Arial"/>
              </a:defRPr>
            </a:pPr>
            <a:r>
              <a:t>Why this Design Matters?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Ensures Best Practices: Eliminates structural issues like data leakage, over-parameterization, and runtime type conflicts.</a:t>
            </a:r>
          </a:p>
          <a:p>
            <a:pPr>
              <a:spcAft>
                <a:spcPts val="16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Low-Code Streamlit Integration: The entire cleaning-and-modeling flow is encapsulated inside the pipeline. Streamlit processes raw inputs directly, keeping the web application logic clean.</a:t>
            </a:r>
          </a:p>
          <a:p>
            <a:pPr>
              <a:spcAft>
                <a:spcPts val="16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Production-Ready Architecture: Implements real-world ML system patterns, separating the offline training environment (Jupyter/Colab) from the online inference engine (Streamlit server).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03/15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Defensive Cleaning: RAM &amp; ROM Extractions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1. RAM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100">
                <a:solidFill>
                  <a:srgbClr val="0288D1"/>
                </a:solidFill>
                <a:latin typeface="Consolas"/>
              </a:defRPr>
            </a:pPr>
            <a:r>
              <a:t>def parse_ram(x):</a:t>
            </a:r>
            <a:br/>
            <a:r>
              <a:t>    if pd.isna(x): return np.nan</a:t>
            </a:r>
            <a:br/>
            <a:r>
              <a:t>    x_str = str(x).upper().replace('GB', '').strip()</a:t>
            </a:r>
            <a:br/>
            <a:r>
              <a:t>    return int(x_str) if x_str.isdigit() else np.nan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Why pd.isna(x)? Pandas reads missing values as float NaN. Running string operations on floats causes AttributeError. This check prevents crashes.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Why simple string replace? Removing 'GB' and casting to int is much easier to explain to students than writing a regex search like r'(\d+)\s*GB'.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Type Safety: isdigit() checks that the remaining string is a clean number before casting to int, returning NaN otherwise.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2. ROM (Storage)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050">
                <a:solidFill>
                  <a:srgbClr val="0288D1"/>
                </a:solidFill>
                <a:latin typeface="Consolas"/>
              </a:defRPr>
            </a:pPr>
            <a:r>
              <a:t>def parse_rom(x):</a:t>
            </a:r>
            <a:br/>
            <a:r>
              <a:t>    if pd.isna(x): return np.nan</a:t>
            </a:r>
            <a:br/>
            <a:r>
              <a:t>    x_str = str(x).upper().strip()</a:t>
            </a:r>
            <a:br/>
            <a:r>
              <a:t>    if 'TB' in x_str:</a:t>
            </a:r>
            <a:br/>
            <a:r>
              <a:t>        val = x_str.replace('TB', '').strip()</a:t>
            </a:r>
            <a:br/>
            <a:r>
              <a:t>        return int(val) * 1024 if val.isdigit() else np.nan</a:t>
            </a:r>
            <a:br/>
            <a:r>
              <a:t>    val = x_str.replace('GB', '').strip()</a:t>
            </a:r>
            <a:br/>
            <a:r>
              <a:t>    return int(val) if val.isdigit() else np.nan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Why handle TB/GB? The dataset mixes units (e.g. '1TB HDD', '256GB SSD'). To make them comparable, we must standardize them into a single unit (GB).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Scaling Logic: If the string contains 'TB', we strip 'TB' and multiply the remaining digit by 1024.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Otherwise, we strip 'GB' and return the raw integer directly. Missing formats safely return NaN.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04/15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Clean Parsing: CPU Cores &amp; Threads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1. CPU Cores Parsing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050">
                <a:solidFill>
                  <a:srgbClr val="0288D1"/>
                </a:solidFill>
                <a:latin typeface="Consolas"/>
              </a:defRPr>
            </a:pPr>
            <a:r>
              <a:t>def parse_cores(x):</a:t>
            </a:r>
            <a:br/>
            <a:r>
              <a:t>    ...</a:t>
            </a:r>
            <a:br/>
            <a:r>
              <a:t>    words = x_str.split()</a:t>
            </a:r>
            <a:br/>
            <a:r>
              <a:t>    for idx, word in enumerate(words):</a:t>
            </a:r>
            <a:br/>
            <a:r>
              <a:t>        if 'CORE' in word:</a:t>
            </a:r>
            <a:br/>
            <a:r>
              <a:t>            if idx &gt; 0 and words[idx-1].isdigit():</a:t>
            </a:r>
            <a:br/>
            <a:r>
              <a:t>                return int(words[idx-1])</a:t>
            </a:r>
            <a:br/>
            <a:r>
              <a:t>    for name, val in core_map.items():</a:t>
            </a:r>
            <a:br/>
            <a:r>
              <a:t>        if name in x_str: return val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Why split words? CPU specifications contain core counts written in multiple styles (e.g. '10 Cores', 'Hexa Core').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Index Check: We split the string by spaces. If a word contains 'CORE', we check if the word before it is a digit and return it.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Dictionary Map: If the core count is written as a word (e.g. 'Hexa'), we check a pre-defined mapping dictionary.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2. CPU Threads Parsing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000">
                <a:solidFill>
                  <a:srgbClr val="0288D1"/>
                </a:solidFill>
                <a:latin typeface="Consolas"/>
              </a:defRPr>
            </a:pPr>
            <a:r>
              <a:t>def parse_threads(x):</a:t>
            </a:r>
            <a:br/>
            <a:r>
              <a:t>    ...</a:t>
            </a:r>
            <a:br/>
            <a:r>
              <a:t>    parts = x_str.split(',')</a:t>
            </a:r>
            <a:br/>
            <a:r>
              <a:t>    for part in parts:</a:t>
            </a:r>
            <a:br/>
            <a:r>
              <a:t>        if 'THREAD' in part:</a:t>
            </a:r>
            <a:br/>
            <a:r>
              <a:t>            words = part.split()</a:t>
            </a:r>
            <a:br/>
            <a:r>
              <a:t>            for idx, word in enumerate(words):</a:t>
            </a:r>
            <a:br/>
            <a:r>
              <a:t>                if 'THREAD' in word and idx &gt; 0:</a:t>
            </a:r>
            <a:br/>
            <a:r>
              <a:t>                    if words[idx-1].isdigit():</a:t>
            </a:r>
            <a:br/>
            <a:r>
              <a:t>                        return int(words[idx-1])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Why split by comma? Many CPU rows separate core and thread data with a comma (e.g., 'Hexa Core, 12 Threads').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Targeted Search: We split by comma to isolate the thread segment, check if the segment contains 'THREAD', split it into words, and grab the preceding digit.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Missing Threads: If the text 'THREAD' is absent (e.g., 'Quad Core'), it returns NaN.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05/15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CPU Threads Fallback Logic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Logical Imputation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300">
                <a:solidFill>
                  <a:srgbClr val="0288D1"/>
                </a:solidFill>
                <a:latin typeface="Consolas"/>
              </a:defRPr>
            </a:pPr>
            <a:r>
              <a:t>df['CPU_threads'] = df['CPU_threads'].fillna(df['CPU_cores'])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The Data Issue: Laptops that do not support hyperthreading (multithreading) often leave out the thread spec entirely in retail databases (e.g. 'Octa Core' or 'Quad Core').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Because the word 'THREAD' is missing from the text, our thread parsing function returns NaN.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Rather than keeping them as nulls or guessing a median value, we run a hardware-based fallback.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E7D32"/>
                </a:solidFill>
                <a:latin typeface="Arial"/>
              </a:defRPr>
            </a:pPr>
            <a:r>
              <a:t>Why this is Hardware-Accurate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No Hyperthreading: In computer hardware, if a CPU does not support hyperthreading, the number of logical threads is exactly equal to physical cores.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Examples: An Apple M1/M2 chip has 8 cores and exactly 8 threads. An Intel Celeron has 2 cores and exactly 2 threads.</a:t>
            </a:r>
          </a:p>
          <a:p>
            <a:pPr>
              <a:spcAft>
                <a:spcPts val="12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Accuracy: Copying the core count to threads matches hardware facts, resulting in a much more accurate feature than simple statistical median imputation.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06/15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Feature Grouping (CPU &amp; GPU Brands)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Grouping CPU Manufacturers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050">
                <a:solidFill>
                  <a:srgbClr val="0288D1"/>
                </a:solidFill>
                <a:latin typeface="Consolas"/>
              </a:defRPr>
            </a:pPr>
            <a:r>
              <a:t>def get_cpu_brand(x):</a:t>
            </a:r>
            <a:br/>
            <a:r>
              <a:t>    if pd.isna(x): return 'Other'</a:t>
            </a:r>
            <a:br/>
            <a:r>
              <a:t>    x_str = str(x).upper()</a:t>
            </a:r>
            <a:br/>
            <a:r>
              <a:t>    if 'INTEL' in x_str: return 'Intel'</a:t>
            </a:r>
            <a:br/>
            <a:r>
              <a:t>    if 'AMD' in x_str: return 'AMD'</a:t>
            </a:r>
            <a:br/>
            <a:r>
              <a:t>    if 'APPLE' in x_str: return 'Apple'</a:t>
            </a:r>
            <a:br/>
            <a:r>
              <a:t>    if 'MEDIATEK' in x_str: return 'MediaTek'</a:t>
            </a:r>
            <a:br/>
            <a:r>
              <a:t>    return 'Other'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Why group? The raw 'processor' column has hundreds of unique names. One-hot encoding them directly would create hundreds of sparse columns, causing overfitting.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By grouping them into 5 major brands, we reduce cardinality while retaining critical manufacturer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Grouping GPU Manufacturers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050">
                <a:solidFill>
                  <a:srgbClr val="0288D1"/>
                </a:solidFill>
                <a:latin typeface="Consolas"/>
              </a:defRPr>
            </a:pPr>
            <a:r>
              <a:t>def get_gpu_brand(x):</a:t>
            </a:r>
            <a:br/>
            <a:r>
              <a:t>    ...</a:t>
            </a:r>
            <a:br/>
            <a:r>
              <a:t>    if 'NVIDIA' in x_str: return 'NVIDIA'</a:t>
            </a:r>
            <a:br/>
            <a:r>
              <a:t>    if 'AMD' in x_str or 'RADEON' in x_str: return 'AMD'</a:t>
            </a:r>
            <a:br/>
            <a:r>
              <a:t>    if 'INTEL' in x_str or 'IRIS' in x_str: return 'Intel'</a:t>
            </a:r>
            <a:br/>
            <a:r>
              <a:t>    if 'APPLE' in x_str: return 'Apple'</a:t>
            </a:r>
            <a:br/>
            <a:r>
              <a:t>    return 'Other'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Integrated vs. Dedicated VRAM: We group GPU names into brands, and also extract the VRAM size (e.g. '4GB NVIDIA Geforce...'). Integrated graphics defaults to 0 GB VRAM.</a:t>
            </a:r>
          </a:p>
          <a:p>
            <a:pPr>
              <a:spcAft>
                <a:spcPts val="6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Result: This turns a complex, high-cardinality string column into two high-value features (GPU brand &amp; VRAM GB).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07/15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Target Skewness &amp; Log-Transformation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Why Log-Transform the Target?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Right-Skewed Pricing: Laptop prices are concentrated at lower levels, with a few premium models extending a long tail to the right.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Model Bias: Training directly on highly skewed targets forces models to heavily weight extreme high-end prices, making their general predictions unstable.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Using np.log1p (log(y+1)) compresses outliers, converting an asymmetrical curve into a Normal (bell-shaped) curve.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log1p vs log: log1p adds 1 to prevent taking the log of zero (which is undefined and would crash standard math functions).</a:t>
            </a:r>
          </a:p>
        </p:txBody>
      </p:sp>
      <p:pic>
        <p:nvPicPr>
          <p:cNvPr id="6" name="Picture 5" descr="target_dist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08/15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Modular Preprocessing: ColumnTransformer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Pipeline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00">
                <a:solidFill>
                  <a:srgbClr val="0288D1"/>
                </a:solidFill>
                <a:latin typeface="Consolas"/>
              </a:defRPr>
            </a:pPr>
            <a:r>
              <a:t>num_pipeline = Pipeline([</a:t>
            </a:r>
            <a:br/>
            <a:r>
              <a:t>    ('imputer', SimpleImputer(strategy='median')),</a:t>
            </a:r>
            <a:br/>
            <a:r>
              <a:t>    ('scaler', StandardScaler())</a:t>
            </a:r>
            <a:br/>
            <a:r>
              <a:t>])</a:t>
            </a:r>
            <a:br/>
            <a:br/>
            <a:r>
              <a:t>cat_pipeline = Pipeline([</a:t>
            </a:r>
            <a:br/>
            <a:r>
              <a:t>    ('imputer', SimpleImputer(strategy='most_frequent')),</a:t>
            </a:r>
            <a:br/>
            <a:r>
              <a:t>    ('onehot', OneHotEncoder(handle_unknown='ignore'))</a:t>
            </a:r>
            <a:br/>
            <a:r>
              <a:t>])</a:t>
            </a:r>
            <a:br/>
            <a:br/>
            <a:r>
              <a:t>preprocessor = ColumnTransformer([</a:t>
            </a:r>
            <a:br/>
            <a:r>
              <a:t>    ('num', num_pipeline, num_cols),</a:t>
            </a:r>
            <a:br/>
            <a:r>
              <a:t>    ('cat', cat_pipeline, cat_cols)</a:t>
            </a:r>
            <a:br/>
            <a:r>
              <a:t>])</a:t>
            </a:r>
          </a:p>
          <a:p>
            <a:pPr>
              <a:defRPr sz="1300">
                <a:solidFill>
                  <a:srgbClr val="212529"/>
                </a:solidFill>
                <a:latin typeface="Arial"/>
              </a:defRPr>
            </a:pPr>
            <a:r>
              <a:t>• Bundles cleaning, scaling, and encoding into a single preprocessor block.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E7D32"/>
                </a:solidFill>
                <a:latin typeface="Arial"/>
              </a:defRPr>
            </a:pPr>
            <a:r>
              <a:t>Why use ColumnTransformer?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Prevents Data Leakage: Standard scaling and categorical statistics are fitted ONLY during training folds during cross-validation, never leaking test fold parameters.</a:t>
            </a:r>
          </a:p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Automatic Prefixing: Scikit-learn automatically prefixes processed feature columns (e.g. 'num__Ram_GB' or 'cat__brand_HP') to avoid name collisions.</a:t>
            </a:r>
          </a:p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Easier Deployment: The entire preprocessing graph fits inside our final model pickle file, allowing Streamlit to parse raw web forms dynamically.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09/15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One-Hot vs. Label Encoding Strategies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One-Hot Encoding (Nominal Features)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Nominal columns (Brand, OS, RAM Type) have no natural order or ranking.</a:t>
            </a:r>
          </a:p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Label Encoding nominal values (HP=0, Lenovo=1, Apple=2) implies a false hierarchy that confuses regressors (Apple is not twice Lenovo).</a:t>
            </a:r>
          </a:p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One-Hot Encoding splits categories into separate binary columns (0 or 1), treating each class independently.</a:t>
            </a:r>
          </a:p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We avoid column explosion by grouping high-cardinality values beforehand, keeping columns to around 35.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E7D32"/>
                </a:solidFill>
                <a:latin typeface="Arial"/>
              </a:defRPr>
            </a:pPr>
            <a:r>
              <a:t>Label/Ordinal Encoding (Ordinal Features)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Ordinal columns contain categories with a clear, natural order (e.g. Warranty: 1 &lt; 2 &lt; 3 years, or spec rating).</a:t>
            </a:r>
          </a:p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Since these have mathematical scales, we keep them as numerical levels.</a:t>
            </a:r>
          </a:p>
          <a:p>
            <a:pPr>
              <a:spcAft>
                <a:spcPts val="1000"/>
              </a:spcAft>
              <a:defRPr sz="1350">
                <a:solidFill>
                  <a:srgbClr val="212529"/>
                </a:solidFill>
                <a:latin typeface="Arial"/>
              </a:defRPr>
            </a:pPr>
            <a:r>
              <a:t>• If you have high-cardinality nominal columns that cannot be grouped (like Zip Codes or Specific Models), use Target Encoding (replacing strings with mean price) or Binary Encoding to limit columns.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10/15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Diagnosing Underfitting &amp; Overfitting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Evidence from our Results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Underfitting (High Bias): Lasso Regression (Train R2: 0.6811 | Test R2: 0.6840). The R2 values are low, indicating the model is too simple to capture pricing variance.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Overfitting (High Variance): Decision Tree (Train R2: 0.9842 | Test R2: 0.6719). The tree memorized training noise but failed on unseen test data.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Balanced Fit: Gradient Boosting (Train R2: 0.9264 | Test R2: 0.8942) and Ridge Regression. Training and testing scores are close (generalization gap &lt; 3%).</a:t>
            </a:r>
          </a:p>
        </p:txBody>
      </p:sp>
      <p:pic>
        <p:nvPicPr>
          <p:cNvPr id="6" name="Picture 5" descr="model_comparison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11/15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GridSearchCV vs. RandomizedSearchCV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1. GridSearchCV (Exhaustive)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150">
                <a:solidFill>
                  <a:srgbClr val="0288D1"/>
                </a:solidFill>
                <a:latin typeface="Consolas"/>
              </a:defRPr>
            </a:pPr>
            <a:r>
              <a:t>grid_params = {</a:t>
            </a:r>
            <a:br/>
            <a:r>
              <a:t>    'regressor__regressor__n_estimators': [100, 150],</a:t>
            </a:r>
            <a:br/>
            <a:r>
              <a:t>    'regressor__regressor__max_depth': [4, 6],</a:t>
            </a:r>
            <a:br/>
            <a:r>
              <a:t>    'regressor__regressor__learning_rate': [0.05, 0.1]</a:t>
            </a:r>
            <a:br/>
            <a:r>
              <a:t>}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Checks all combinations. With 3 parameters of 2 values each, it trains 2x2x2 = 8 models x 3 CV folds = 24 total runs.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Guarantees finding the best configuration in the grid, but scales poorly to large search spaces.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E7D32"/>
                </a:solidFill>
                <a:latin typeface="Arial"/>
              </a:defRPr>
            </a:pPr>
            <a:r>
              <a:t>2. RandomizedSearchCV (Random Sampling)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050">
                <a:solidFill>
                  <a:srgbClr val="0288D1"/>
                </a:solidFill>
                <a:latin typeface="Consolas"/>
              </a:defRPr>
            </a:pPr>
            <a:r>
              <a:t>random_params = {</a:t>
            </a:r>
            <a:br/>
            <a:r>
              <a:t>    'regressor__regressor__n_estimators': [50, 100, 150, 200],</a:t>
            </a:r>
            <a:br/>
            <a:r>
              <a:t>    'regressor__regressor__max_depth': [3, 4, 6, 8],</a:t>
            </a:r>
            <a:br/>
            <a:r>
              <a:t>    'regressor__regressor__learning_rate': [0.01, 0.05, 0.1, 0.2]</a:t>
            </a:r>
            <a:br/>
            <a:r>
              <a:t>}</a:t>
            </a:r>
            <a:br/>
            <a:r>
              <a:t>RandomizedSearchCV(..., n_iter=15, cv=3)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Randomly samples a fixed number of parameter combinations (e.g. n_iter=15).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Saves massive computational time while exploring wider parameter boundaries.</a:t>
            </a:r>
          </a:p>
          <a:p>
            <a:pPr>
              <a:spcAft>
                <a:spcPts val="8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Note: Nested parameters inside pipelines must be accessed with double underscores (e.g. 'regressor__regressor__max_depth').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12/15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Feature Importance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Interpreting Feature Importances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Feature Importance shows which columns have the greatest mathematical influence on the model's price predictions.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In our XGBoost pipeline, the importances are extracted from the fitted tree estimator.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Key Predictors: RAM capacity ('Ram_GB') and hardware performance metrics ('spec_rating', CPU core count) have the largest positive influence on price.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Categorical variables like Apple brands ('cat__brand_Apple') show strong price coefficients, explaining why premium products command higher retail value.</a:t>
            </a:r>
          </a:p>
        </p:txBody>
      </p:sp>
      <p:pic>
        <p:nvPicPr>
          <p:cNvPr id="6" name="Picture 5" descr="feature_importance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1206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13/15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Web App Deployment with Streamlit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Streamlit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Pickled Pipeline: We dump our complete pipeline (preprocessing + target regressor) into 'best_laptop_model.pkl'.</a:t>
            </a:r>
          </a:p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Streamlit Dashboard: Users enter specs via sliders and dropdowns.</a:t>
            </a:r>
          </a:p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Prediction: App packages inputs into a 1-row Pandas DataFrame and calls pipeline.predict(df). Preprocessing and inverse target log transformations happen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E7D32"/>
                </a:solidFill>
                <a:latin typeface="Arial"/>
              </a:defRPr>
            </a:pPr>
            <a:r>
              <a:t>Scikit-Learn Version Compatibility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1050">
                <a:solidFill>
                  <a:srgbClr val="0288D1"/>
                </a:solidFill>
                <a:latin typeface="Consolas"/>
              </a:defRPr>
            </a:pPr>
            <a:r>
              <a:t>def patch_imputer(obj):</a:t>
            </a:r>
            <a:br/>
            <a:r>
              <a:t>    if isinstance(obj, SimpleImputer):</a:t>
            </a:r>
            <a:br/>
            <a:r>
              <a:t>        if not hasattr(obj, '_fill_dtype'):</a:t>
            </a:r>
            <a:br/>
            <a:r>
              <a:t>            obj._fill_dtype = obj.statistics_.dtype</a:t>
            </a:r>
            <a:br/>
            <a:r>
              <a:t>    elif isinstance(obj, Pipeline):</a:t>
            </a:r>
            <a:br/>
            <a:r>
              <a:t>        for name, step in obj.steps: patch_imputer(step)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The Bug: Model pickled with one sklearn version (e.g. local 1.7.2) fails to load on Streamlit Cloud due to missing attributes (like _fill_dtype inside SimpleImputer).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The Patch: We write a recursive function to walk the pipeline and dynamically inject missing attributes on the fly.</a:t>
            </a:r>
          </a:p>
          <a:p>
            <a:pPr>
              <a:spcAft>
                <a:spcPts val="1000"/>
              </a:spcAft>
              <a:defRPr sz="1300">
                <a:solidFill>
                  <a:srgbClr val="212529"/>
                </a:solidFill>
                <a:latin typeface="Arial"/>
              </a:defRPr>
            </a:pPr>
            <a:r>
              <a:t>• Result: Free, bulletproof deployment on Streamlit Cloud.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1">
                <a:solidFill>
                  <a:srgbClr val="0288D1"/>
                </a:solidFill>
                <a:latin typeface="Arial"/>
              </a:rPr>
              <a:t>14/15  |  </a:t>
            </a:r>
            <a:r>
              <a:rPr sz="3200" b="1">
                <a:solidFill>
                  <a:srgbClr val="0A2540"/>
                </a:solidFill>
                <a:latin typeface="Arial"/>
              </a:rPr>
              <a:t>Summary &amp; 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0288D1"/>
                </a:solidFill>
                <a:latin typeface="Arial"/>
              </a:defRPr>
            </a:pPr>
            <a:r>
              <a:t>Pipeline Clean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Unstructured Text Cleaned: Extracted numeric values for RAM, ROM, CPU Cores/Threads, and GPU VRAM without regular expressions.</a:t>
            </a:r>
          </a:p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Target Transformations: Used TransformedTargetRegressor with np.log1p to remove skewness, leading to highly stable modeling.</a:t>
            </a:r>
          </a:p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Leakage Prevention: Encapsulated ColumnTransformer scaling/encoding inside pipelines to keep evaluations strict and robust.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2E7D32"/>
                </a:solidFill>
                <a:latin typeface="Arial"/>
              </a:defRPr>
            </a:pPr>
            <a:r>
              <a:t>Deployment &amp; Production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Tuned XGBoost Regressor: Contrasted grid search and randomized search, finding that RandomizedSearch is faster and generalized better.</a:t>
            </a:r>
          </a:p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Productionized Pipeline: Saved the model pipeline to disk using joblib, resolving scikit-learn version differences dynamically.</a:t>
            </a:r>
          </a:p>
          <a:p>
            <a:pPr>
              <a:spcAft>
                <a:spcPts val="1400"/>
              </a:spcAft>
              <a:defRPr sz="1400">
                <a:solidFill>
                  <a:srgbClr val="212529"/>
                </a:solidFill>
                <a:latin typeface="Arial"/>
              </a:defRPr>
            </a:pPr>
            <a:r>
              <a:t>• Web App Active: Deployed successfully to Streamlit Community Cloud, ready for production use and user interaction.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